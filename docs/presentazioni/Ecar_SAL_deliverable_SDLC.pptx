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17ef4582-8580-0dd2-fd80-4ae763a7e9a5}">
          <p14:sldIdLst>
            <p14:sldId id="256"/>
            <p14:sldId id="257"/>
            <p14:sldId id="258"/>
          </p14:sldIdLst>
        </p14:section>
        <p14:section name="Avvio" id="{1b33d79d-944c-099a-d221-9a9de5f50f17}">
          <p14:sldIdLst>
            <p14:sldId id="259"/>
          </p14:sldIdLst>
        </p14:section>
        <p14:section name="Analisi" id="{6156c693-f378-dbcb-2656-262af019a660}">
          <p14:sldIdLst>
            <p14:sldId id="260"/>
            <p14:sldId id="261"/>
            <p14:sldId id="262"/>
          </p14:sldIdLst>
        </p14:section>
        <p14:section name="Design" id="{c40cc93b-c770-37d7-7ec4-0c704357ccb5}">
          <p14:sldIdLst>
            <p14:sldId id="263"/>
            <p14:sldId id="264"/>
            <p14:sldId id="265"/>
            <p14:sldId id="266"/>
          </p14:sldIdLst>
        </p14:section>
        <p14:section name="Conclusioni" id="{5b6d893c-b701-4a4b-6412-b3265761ea30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s] Presentiamo Ecar, la piattaforma di car e bike sharing che unisce flotta aziendale e veicoli di privati. In questo SAL ripercorriamo i deliverable prodotti in ogni fase del ciclo di vita fino al Design: per ognuno diciamo cosa abbiamo fatto, perché, e cosa si potrebbe migliorare.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Il problema: l'offerta di mobilità occasionale è frammentata e i veicoli dei privati restano inutilizzati. La nostra soluzione, descritta nell'EPIC-001, è una piattaforma unica per flotta aziendale e privati. Abbiamo fissato tre KPI misurabili e un MVP di sei feature, tre Must Have. Il lavoro di dettaglio si è concentrato su FEAT-02, ricerca e prenotazione, il cuore del servizio.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Il ciclo di vita del corso ha cinque macro-fasi, precedute dall'avvio del progetto. Abbiamo completato avvio e analisi e siamo nella fase di Design. Sotto ogni fase ci sono i deliverable che vi mostriamo nelle prossime slide: repository ed epic nell'avvio; use case, backlog e prototipo nell'analisi; architettura, C4, diagrammi comportamentali e schema dei dati nel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Nell'avvio abbiamo impostato il metodo: repository GitHub con la documentazione in Markdown, così ogni modifica è tracciata e confrontabile. Ognuno ha scritto la propria proposta di epic e poi abbiamo scelto insieme quella su cui lavorare. Cosa manca: il kickoff formale della Lezione 1, cioè RACI e studio di fattibilità, che vogliamo recuperare.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 15 s] Il primo deliverable di analisi è lo use case diagram: quattro attori e tredici casi d'uso, colorati per area funzionale. Serve a fissare il confine del sistema e chi lo usa prima di scrivere i requisiti: è la vista dall'esterno. Il passo successivo naturale è completare il dossier di analisi con una scheda formale per ogni caso d'uso e i wireframe delle schermate.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 15 s] Dai casi d'uso siamo passati al backlog agile: un'epic, sei feature, tredici user story. Abbiamo portato a fondo FEAT-02: storie nel formato Come/voglio/affinché, verifica INVEST, scenari Gherkin per il percorso felice e per le eccezioni, come la prenotazione concorrente qui sotto. Il perché: ogni scenario è già un criterio di accettazione verificabile. Il prossimo passo è dettagliare e stimare le altre feature e gestire il backlog su uno strumento come GitHub Projects o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 15 s] Per chiudere l'analisi abbiamo generato con Figma Make un prototipo funzionante di FEAT-02, partendo da un prompt che traduce le regole della feature. Si vedono i marker distinti per tipo e proprietà, la finestra di 24 ore e la conferma con il metodo di pagamento registrato. Serve a validare il flusso con il Product Owner prima di progettare. Il passo successivo: documentare la validazione ed estendere il prototipo alle altre feature Must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 30 s] Primo deliverable di design: la scheda comparativa del macro-pattern. Abbiamo due carichi diversi: transazioni di prenotazione e un flusso continuo di posizioni GPS. Per le prenotazioni abbiamo scelto un monolite modulare con un unico database MySQL e transazioni ACID, il modo più semplice per evitare doppie prenotazioni. Per il GPS una pipeline a filtri, dove il terzo filtro offusca la posizione dei veicoli privati prima che arrivi al core: privacy by design. Il costo sono due unità da gestire e un piccolo ritardo. L'evoluzione naturale, se il dato GPS servirà a più parti del sistema, è un'architettura a eventi.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 15 s] L'architettura l'abbiamo documentata con il modello C4, che funziona come lo zoom di una mappa. Il livello 1 mostra il sistema e chi lo usa; il livello 2 i pezzi che girano davvero: app, API, worker GPS e database; il livello 3 apre il worker in notazione UML, con porte e interfacce. Ogni livello serve a un pubblico diverso. Il passo successivo della Lezione 5 è il deployment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 30 s] Per il comportamento abbiamo due diagrammi. L'activity diagram unisce le tre user story di FEAT-02 in un solo flusso: come ci ha detto il docente, un diagramma per singolo scenario non ha senso. Ha tre uscite d'errore: nessun veicolo, finestra delle 24 ore, veicolo già prenotato. Il sequence diagram mostra i due flussi dell'architettura: la pipeline GPS e la prenotazione dentro una transazione ACID, con i frammenti alt e opt. Il passo successivo è estendere la modellazione con la state machine del veicolo e i sequence di modifica e cancellazione della prenotazione.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Lo schema dei dati è la base del database MySQL scelto nell'architettura. Il tipo di proprietà, flotta o privato, è una tabella a sé come il tipo di veicolo: è il dato che usano sia la mappa, per distinguere i marker, sia il Filtro 3 della pipeline, per decidere se offuscare la posizione. I veicoli privati hanno un proprietario, che è un utente. La prenotazione ha un periodo e uno stato, e il veicolo ha la data da cui è disponibile, che serve per la finestra di 24 ore, e la sua posizione aggregata. Il prossimo passo è lo script SQL con vincoli e indici.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Questa slide mostra perché i deliverable stanno insieme. Prendiamo un solo requisito: niente doppie prenotazioni. Nasce come rischio nell'epic, diventa uno scenario BDD in US-04, il prototipo lo controlla già, l'activity lo rappresenta come decisione, l'architettura lo risolve con una transazione ACID e il sequence mostra il lock e il rollback. Questa tracciabilità ci ha permesso, per esempio, di aggiornare in modo coerente tutti i documenti quando abbiamo aggiunto un'interfaccia alla pipeline GPS.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s] Grazie. Tutta la documentazione è nella repository del progetto. Siamo pronti per domande e osservazioni.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scuro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8138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8138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Ecar · Project Work · UFS11 Progettazione e Sviluppo Software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Ecar — Car &amp; Bike Sharing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Stato avanzamento lavori: i deliverable dall'avvio alla fase di Design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UFS11 · Progettazione e Sviluppo Software — Project Work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Team: Adam · Christian · Riccardo C. · Riccardo V.</a:t>
            </a:r>
            <a:endParaRPr lang="en-US" sz="1400" dirty="0"/>
          </a:p>
        </p:txBody>
      </p:sp>
      <p:sp>
        <p:nvSpPr>
          <p:cNvPr id="5" name="logo"/>
          <p:cNvSpPr/>
          <p:nvPr/>
        </p:nvSpPr>
        <p:spPr>
          <a:xfrm>
            <a:off x="9281160" y="214884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6974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850392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CONTESTO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 progetto in breve</a:t>
            </a:r>
            <a:endParaRPr lang="en-US" sz="3200" dirty="0"/>
          </a:p>
        </p:txBody>
      </p:sp>
      <p:sp>
        <p:nvSpPr>
          <p:cNvPr id="4" name="card Problema"/>
          <p:cNvSpPr/>
          <p:nvPr/>
        </p:nvSpPr>
        <p:spPr>
          <a:xfrm>
            <a:off x="548640" y="1508760"/>
            <a:ext cx="5120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Problema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Chi ha bisogno di un'auto o di una bici occasionale non ha un unico punto di accesso: l'offerta è frammentata e i veicoli dei privati restano fermi.</a:t>
            </a:r>
            <a:endParaRPr lang="en-US" sz="1500" dirty="0"/>
          </a:p>
        </p:txBody>
      </p:sp>
      <p:sp>
        <p:nvSpPr>
          <p:cNvPr id="6" name="card Soluzione (EPIC-001)"/>
          <p:cNvSpPr/>
          <p:nvPr/>
        </p:nvSpPr>
        <p:spPr>
          <a:xfrm>
            <a:off x="548640" y="3108960"/>
            <a:ext cx="51206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2461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Soluzione (EPIC-001)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Un'unica piattaforma che unisce la flotta aziendale e i veicoli messi a disposizione dai privati, con ricavi da prenotazioni e abbonamenti.</a:t>
            </a:r>
            <a:endParaRPr lang="en-US" sz="1500" dirty="0"/>
          </a:p>
        </p:txBody>
      </p:sp>
      <p:sp>
        <p:nvSpPr>
          <p:cNvPr id="8" name="card attori"/>
          <p:cNvSpPr/>
          <p:nvPr/>
        </p:nvSpPr>
        <p:spPr>
          <a:xfrm>
            <a:off x="548640" y="4709160"/>
            <a:ext cx="5120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846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Chi lo usa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230368"/>
            <a:ext cx="224028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Utente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5230368"/>
            <a:ext cx="224028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Privato condivisore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687568"/>
            <a:ext cx="224028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Operatore assistenza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5687568"/>
            <a:ext cx="224028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Amministratore (ipotizzato)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Obiettivi misurabili (KPI)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560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prenotazioni senza modifiche fuori termine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&lt;7 gg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2560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dalla registrazione di un veicolo privato alla prima prenotazione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&gt;95%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2560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ticket di assistenza risolti entro 24 ore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Perimetro MVP 1.0 — 6 feature</a:t>
            </a:r>
            <a:endParaRPr lang="en-US" sz="1400" dirty="0"/>
          </a:p>
        </p:txBody>
      </p:sp>
      <p:sp>
        <p:nvSpPr>
          <p:cNvPr id="22" name="feature FEAT-01"/>
          <p:cNvSpPr/>
          <p:nvPr/>
        </p:nvSpPr>
        <p:spPr>
          <a:xfrm>
            <a:off x="6126480" y="4023360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FEAT-01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Autenticazione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3525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Must have</a:t>
            </a:r>
            <a:endParaRPr lang="en-US" sz="1100" dirty="0"/>
          </a:p>
        </p:txBody>
      </p:sp>
      <p:sp>
        <p:nvSpPr>
          <p:cNvPr id="25" name="feature FEAT-02"/>
          <p:cNvSpPr/>
          <p:nvPr/>
        </p:nvSpPr>
        <p:spPr>
          <a:xfrm>
            <a:off x="8915400" y="4023360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5256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FEAT-02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Ricerca e prenotazione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43525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Must have</a:t>
            </a:r>
            <a:endParaRPr lang="en-US" sz="1100" dirty="0"/>
          </a:p>
        </p:txBody>
      </p:sp>
      <p:sp>
        <p:nvSpPr>
          <p:cNvPr id="28" name="feature FEAT-03"/>
          <p:cNvSpPr/>
          <p:nvPr/>
        </p:nvSpPr>
        <p:spPr>
          <a:xfrm>
            <a:off x="6126480" y="4754880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754880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48097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FEAT-03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Gestione prenotazioni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5084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Should have</a:t>
            </a:r>
            <a:endParaRPr lang="en-US" sz="1100" dirty="0"/>
          </a:p>
        </p:txBody>
      </p:sp>
      <p:sp>
        <p:nvSpPr>
          <p:cNvPr id="32" name="feature FEAT-04"/>
          <p:cNvSpPr/>
          <p:nvPr/>
        </p:nvSpPr>
        <p:spPr>
          <a:xfrm>
            <a:off x="8915400" y="4754880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5400" y="4754880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52560" y="48097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FEAT-04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Abbonamenti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5084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Should have</a:t>
            </a:r>
            <a:endParaRPr lang="en-US" sz="1100" dirty="0"/>
          </a:p>
        </p:txBody>
      </p:sp>
      <p:sp>
        <p:nvSpPr>
          <p:cNvPr id="36" name="feature FEAT-05"/>
          <p:cNvSpPr/>
          <p:nvPr/>
        </p:nvSpPr>
        <p:spPr>
          <a:xfrm>
            <a:off x="6126480" y="5486400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5541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FEAT-05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Condivisione tra privati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5815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Must have</a:t>
            </a:r>
            <a:endParaRPr lang="en-US" sz="1100" dirty="0"/>
          </a:p>
        </p:txBody>
      </p:sp>
      <p:sp>
        <p:nvSpPr>
          <p:cNvPr id="39" name="feature FEAT-06"/>
          <p:cNvSpPr/>
          <p:nvPr/>
        </p:nvSpPr>
        <p:spPr>
          <a:xfrm>
            <a:off x="8915400" y="5486400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15400" y="5486400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52560" y="5541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FEAT-06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Assistenza in corsa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052560" y="5815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Should have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1239012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CICLO DI VITA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Dove siamo nel ciclo di vita del software</a:t>
            </a:r>
            <a:endParaRPr lang="en-US" sz="3200" dirty="0"/>
          </a:p>
        </p:txBody>
      </p:sp>
      <p:sp>
        <p:nvSpPr>
          <p:cNvPr id="4" name="fase Avvio"/>
          <p:cNvSpPr txBox="1"/>
          <p:nvPr/>
        </p:nvSpPr>
        <p:spPr>
          <a:xfrm>
            <a:off x="548640" y="2103120"/>
            <a:ext cx="1938528" cy="868680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Avvio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Lez. 01</a:t>
            </a:r>
            <a:endParaRPr lang="en-US" sz="1600" dirty="0"/>
          </a:p>
        </p:txBody>
      </p:sp>
      <p:sp>
        <p:nvSpPr>
          <p:cNvPr id="5" name="card Avvio"/>
          <p:cNvSpPr/>
          <p:nvPr/>
        </p:nvSpPr>
        <p:spPr>
          <a:xfrm>
            <a:off x="603504" y="3246120"/>
            <a:ext cx="16459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DELIVERABLE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657600"/>
            <a:ext cx="14447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Repository GitHub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Epic condivisa (EPIC-001)</a:t>
            </a:r>
            <a:endParaRPr lang="en-US" sz="1300" dirty="0"/>
          </a:p>
        </p:txBody>
      </p:sp>
      <p:sp>
        <p:nvSpPr>
          <p:cNvPr id="8" name="fase Analisi"/>
          <p:cNvSpPr txBox="1"/>
          <p:nvPr/>
        </p:nvSpPr>
        <p:spPr>
          <a:xfrm>
            <a:off x="2395728" y="2103120"/>
            <a:ext cx="1938528" cy="868680"/>
          </a:xfrm>
          <a:prstGeom prst="chevron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Analisi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Lez. 02–04</a:t>
            </a:r>
            <a:endParaRPr lang="en-US" sz="1600" dirty="0"/>
          </a:p>
        </p:txBody>
      </p:sp>
      <p:sp>
        <p:nvSpPr>
          <p:cNvPr id="9" name="card Analisi"/>
          <p:cNvSpPr/>
          <p:nvPr/>
        </p:nvSpPr>
        <p:spPr>
          <a:xfrm>
            <a:off x="2450592" y="3246120"/>
            <a:ext cx="16459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87752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DELIVERABLE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657600"/>
            <a:ext cx="14447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 case diagram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Epic, feature e user story BDD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Prototipo di FEAT-02</a:t>
            </a:r>
            <a:endParaRPr lang="en-US" sz="1300" dirty="0"/>
          </a:p>
        </p:txBody>
      </p:sp>
      <p:sp>
        <p:nvSpPr>
          <p:cNvPr id="12" name="fase Design"/>
          <p:cNvSpPr txBox="1"/>
          <p:nvPr/>
        </p:nvSpPr>
        <p:spPr>
          <a:xfrm>
            <a:off x="4242816" y="2103120"/>
            <a:ext cx="1938528" cy="868680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Design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Lez. 05–08</a:t>
            </a:r>
            <a:endParaRPr lang="en-US" sz="1600" dirty="0"/>
          </a:p>
        </p:txBody>
      </p:sp>
      <p:sp>
        <p:nvSpPr>
          <p:cNvPr id="13" name="card Design"/>
          <p:cNvSpPr/>
          <p:nvPr/>
        </p:nvSpPr>
        <p:spPr>
          <a:xfrm>
            <a:off x="4297680" y="3246120"/>
            <a:ext cx="16459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DELIVERABLE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07408" y="3657600"/>
            <a:ext cx="14447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Scheda architetturale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C4: Context, Container, Component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Activity e sequence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Schema ER</a:t>
            </a:r>
            <a:endParaRPr lang="en-US" sz="1300" dirty="0"/>
          </a:p>
        </p:txBody>
      </p:sp>
      <p:sp>
        <p:nvSpPr>
          <p:cNvPr id="16" name="fase Sviluppo"/>
          <p:cNvSpPr txBox="1"/>
          <p:nvPr/>
        </p:nvSpPr>
        <p:spPr>
          <a:xfrm>
            <a:off x="6089904" y="2103120"/>
            <a:ext cx="1938528" cy="868680"/>
          </a:xfrm>
          <a:prstGeom prst="chevron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Sviluppo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</a:t>
            </a:r>
            <a:endParaRPr lang="en-US" sz="1600" dirty="0"/>
          </a:p>
        </p:txBody>
      </p:sp>
      <p:sp>
        <p:nvSpPr>
          <p:cNvPr id="17" name="card Sviluppo"/>
          <p:cNvSpPr/>
          <p:nvPr/>
        </p:nvSpPr>
        <p:spPr>
          <a:xfrm>
            <a:off x="6144768" y="3246120"/>
            <a:ext cx="164592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281928" y="33832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Codice secondo Clean Code e pattern architetturali</a:t>
            </a:r>
            <a:endParaRPr lang="en-US" sz="1200" dirty="0"/>
          </a:p>
        </p:txBody>
      </p:sp>
      <p:sp>
        <p:nvSpPr>
          <p:cNvPr id="19" name="fase Test"/>
          <p:cNvSpPr txBox="1"/>
          <p:nvPr/>
        </p:nvSpPr>
        <p:spPr>
          <a:xfrm>
            <a:off x="7936992" y="2103120"/>
            <a:ext cx="1938528" cy="868680"/>
          </a:xfrm>
          <a:prstGeom prst="chevron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Test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</a:t>
            </a:r>
            <a:endParaRPr lang="en-US" sz="1600" dirty="0"/>
          </a:p>
        </p:txBody>
      </p:sp>
      <p:sp>
        <p:nvSpPr>
          <p:cNvPr id="20" name="card Test"/>
          <p:cNvSpPr/>
          <p:nvPr/>
        </p:nvSpPr>
        <p:spPr>
          <a:xfrm>
            <a:off x="7991856" y="3246120"/>
            <a:ext cx="164592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129016" y="33832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Test unitari, di integrazione e di accettazione</a:t>
            </a:r>
            <a:endParaRPr lang="en-US" sz="1200" dirty="0"/>
          </a:p>
        </p:txBody>
      </p:sp>
      <p:sp>
        <p:nvSpPr>
          <p:cNvPr id="22" name="fase Rilascio"/>
          <p:cNvSpPr txBox="1"/>
          <p:nvPr/>
        </p:nvSpPr>
        <p:spPr>
          <a:xfrm>
            <a:off x="9784080" y="2103120"/>
            <a:ext cx="1938528" cy="868680"/>
          </a:xfrm>
          <a:prstGeom prst="chevron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228600" rIns="2286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Rilascio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</a:t>
            </a:r>
            <a:endParaRPr lang="en-US" sz="1600" dirty="0"/>
          </a:p>
        </p:txBody>
      </p:sp>
      <p:sp>
        <p:nvSpPr>
          <p:cNvPr id="23" name="card Rilascio"/>
          <p:cNvSpPr/>
          <p:nvPr/>
        </p:nvSpPr>
        <p:spPr>
          <a:xfrm>
            <a:off x="9838944" y="3246120"/>
            <a:ext cx="164592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9976104" y="33832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Messa in esercizio, monitoraggio, evoluzione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1709928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SIAMO QUI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13944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AVVIO · LEZ. 01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Avvio: metodo di lavoro e repository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Dalle proposte individuali a un'epic condivisa</a:t>
            </a:r>
            <a:endParaRPr lang="en-US" sz="1400" dirty="0"/>
          </a:p>
        </p:txBody>
      </p:sp>
      <p:sp>
        <p:nvSpPr>
          <p:cNvPr id="5" name="bozza epic 1"/>
          <p:cNvSpPr/>
          <p:nvPr/>
        </p:nvSpPr>
        <p:spPr>
          <a:xfrm>
            <a:off x="548640" y="1965960"/>
            <a:ext cx="731520" cy="8686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31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4871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bozza 1</a:t>
            </a:r>
            <a:endParaRPr lang="en-US" sz="1000" dirty="0"/>
          </a:p>
        </p:txBody>
      </p:sp>
      <p:sp>
        <p:nvSpPr>
          <p:cNvPr id="8" name="bozza epic 2"/>
          <p:cNvSpPr/>
          <p:nvPr/>
        </p:nvSpPr>
        <p:spPr>
          <a:xfrm>
            <a:off x="1417320" y="1965960"/>
            <a:ext cx="731520" cy="8686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210312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4871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bozza 2</a:t>
            </a:r>
            <a:endParaRPr lang="en-US" sz="1000" dirty="0"/>
          </a:p>
        </p:txBody>
      </p:sp>
      <p:sp>
        <p:nvSpPr>
          <p:cNvPr id="11" name="bozza epic 3"/>
          <p:cNvSpPr/>
          <p:nvPr/>
        </p:nvSpPr>
        <p:spPr>
          <a:xfrm>
            <a:off x="2286000" y="1965960"/>
            <a:ext cx="731520" cy="8686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10312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86000" y="24871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bozza 3</a:t>
            </a:r>
            <a:endParaRPr lang="en-US" sz="1000" dirty="0"/>
          </a:p>
        </p:txBody>
      </p:sp>
      <p:sp>
        <p:nvSpPr>
          <p:cNvPr id="14" name="bozza epic 4"/>
          <p:cNvSpPr/>
          <p:nvPr/>
        </p:nvSpPr>
        <p:spPr>
          <a:xfrm>
            <a:off x="3154680" y="1965960"/>
            <a:ext cx="731520" cy="8686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103120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154680" y="24871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bozza 4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2176272"/>
            <a:ext cx="457200" cy="4572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663440" y="1965960"/>
            <a:ext cx="17373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240280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193792" y="20116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EPIC-001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Ecar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548640" y="31546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Struttura della repository GitHub</a:t>
            </a:r>
            <a:endParaRPr lang="en-US" sz="1400" dirty="0"/>
          </a:p>
        </p:txBody>
      </p:sp>
      <p:sp>
        <p:nvSpPr>
          <p:cNvPr id="22" name="albero repo"/>
          <p:cNvSpPr/>
          <p:nvPr/>
        </p:nvSpPr>
        <p:spPr>
          <a:xfrm>
            <a:off x="548640" y="3566160"/>
            <a:ext cx="5852160" cy="224028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777240" y="37033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EPIC_01/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epic, feature, user story, use case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Vehicle_Search_and_Booking_prototipo/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design/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scheda, C4, activity, sequence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database/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schema 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branch: main · Analisi</a:t>
            </a:r>
            <a:endParaRPr lang="en-US" sz="1200" dirty="0"/>
          </a:p>
        </p:txBody>
      </p:sp>
      <p:sp>
        <p:nvSpPr>
          <p:cNvPr id="24" name="cerchio cosa"/>
          <p:cNvSpPr/>
          <p:nvPr/>
        </p:nvSpPr>
        <p:spPr>
          <a:xfrm>
            <a:off x="6858000" y="1527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296" y="1609344"/>
            <a:ext cx="219456" cy="21945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388352" y="150876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COSA ABBIAMO FATTO</a:t>
            </a:r>
            <a:endParaRPr lang="en-US" sz="1100" dirty="0"/>
          </a:p>
        </p:txBody>
      </p:sp>
      <p:sp>
        <p:nvSpPr>
          <p:cNvPr id="27" name="Text 18"/>
          <p:cNvSpPr txBox="1"/>
          <p:nvPr/>
        </p:nvSpPr>
        <p:spPr>
          <a:xfrm>
            <a:off x="7388352" y="1783080"/>
            <a:ext cx="42245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Repository GitHub con la documentazione in Markdown divisa per epic e feature, branch main e Analisi. Ogni membro ha scritto una propria epic, poi il team ne ha scelta una.</a:t>
            </a:r>
            <a:endParaRPr lang="en-US" sz="1400" dirty="0"/>
          </a:p>
        </p:txBody>
      </p:sp>
      <p:sp>
        <p:nvSpPr>
          <p:cNvPr id="28" name="cerchio perche"/>
          <p:cNvSpPr/>
          <p:nvPr/>
        </p:nvSpPr>
        <p:spPr>
          <a:xfrm>
            <a:off x="6858000" y="29900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3072384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388352" y="297180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PERCHÉ</a:t>
            </a:r>
            <a:endParaRPr lang="en-US" sz="1100" dirty="0"/>
          </a:p>
        </p:txBody>
      </p:sp>
      <p:sp>
        <p:nvSpPr>
          <p:cNvPr id="31" name="Text 21"/>
          <p:cNvSpPr txBox="1"/>
          <p:nvPr/>
        </p:nvSpPr>
        <p:spPr>
          <a:xfrm>
            <a:off x="7388352" y="3246120"/>
            <a:ext cx="4224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Versionare i documenti come il codice (diff leggibili, cronologia) e confrontare più idee prima di convergere su un perimetro comune.</a:t>
            </a:r>
            <a:endParaRPr lang="en-US" sz="1400" dirty="0"/>
          </a:p>
        </p:txBody>
      </p:sp>
      <p:sp>
        <p:nvSpPr>
          <p:cNvPr id="32" name="cerchio next"/>
          <p:cNvSpPr/>
          <p:nvPr/>
        </p:nvSpPr>
        <p:spPr>
          <a:xfrm>
            <a:off x="6858000" y="42245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0296" y="4306824"/>
            <a:ext cx="219456" cy="219456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388352" y="420624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COSA SI POTREBBE FARE</a:t>
            </a:r>
            <a:endParaRPr lang="en-US" sz="1100" dirty="0"/>
          </a:p>
        </p:txBody>
      </p:sp>
      <p:sp>
        <p:nvSpPr>
          <p:cNvPr id="35" name="Text 24"/>
          <p:cNvSpPr txBox="1"/>
          <p:nvPr/>
        </p:nvSpPr>
        <p:spPr>
          <a:xfrm>
            <a:off x="7388352" y="4480560"/>
            <a:ext cx="4224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Formalizzare il kickoff della Lez. 01: ruoli nel team, matrice RACI e studio di fattibilità su 4 dimensioni (tecnica, economica, operativa, legale).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154990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ANALISI · LEZ. 02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Use Case Diagram: il perimetro del sistema</a:t>
            </a:r>
            <a:endParaRPr lang="en-US" sz="3200" dirty="0"/>
          </a:p>
        </p:txBody>
      </p:sp>
      <p:sp>
        <p:nvSpPr>
          <p:cNvPr id="4" name="cornice use case"/>
          <p:cNvSpPr/>
          <p:nvPr/>
        </p:nvSpPr>
        <p:spPr>
          <a:xfrm>
            <a:off x="548640" y="1508760"/>
            <a:ext cx="6035040" cy="4754880"/>
          </a:xfrm>
          <a:prstGeom prst="roundRect">
            <a:avLst>
              <a:gd name="adj" fmla="val 1154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pic>
        <p:nvPicPr>
          <p:cNvPr id="5" name="Use case diagram del sistema" descr="Use case diagram del sist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075" y="1600200"/>
            <a:ext cx="5798170" cy="4572000"/>
          </a:xfrm>
          <a:prstGeom prst="rect">
            <a:avLst/>
          </a:prstGeom>
        </p:spPr>
      </p:pic>
      <p:sp>
        <p:nvSpPr>
          <p:cNvPr id="6" name="cerchio cosa"/>
          <p:cNvSpPr/>
          <p:nvPr/>
        </p:nvSpPr>
        <p:spPr>
          <a:xfrm>
            <a:off x="6949440" y="1527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6" y="1609344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79792" y="1508760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COSA ABBIAMO FATTO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479792" y="1783080"/>
            <a:ext cx="41330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Diagramma dei casi d'uso dell'intero sistema: 4 attori (Utente, Privato, Operatore assistenza, Amministratore) e 13 casi d'uso, da US01 a US13.</a:t>
            </a:r>
            <a:endParaRPr lang="en-US" sz="1400" dirty="0"/>
          </a:p>
        </p:txBody>
      </p:sp>
      <p:sp>
        <p:nvSpPr>
          <p:cNvPr id="10" name="cerchio perche"/>
          <p:cNvSpPr/>
          <p:nvPr/>
        </p:nvSpPr>
        <p:spPr>
          <a:xfrm>
            <a:off x="6949440" y="27614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284378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79792" y="2743200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PERCHÉ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7479792" y="3017520"/>
            <a:ext cx="41330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Fissare il confine del sistema e chi lo usa prima di scrivere i requisiti: è la vista dall'esterno (black-box) richiesta nella Lez. 02.</a:t>
            </a:r>
            <a:endParaRPr lang="en-US" sz="1400" dirty="0"/>
          </a:p>
        </p:txBody>
      </p:sp>
      <p:sp>
        <p:nvSpPr>
          <p:cNvPr id="14" name="cerchio next"/>
          <p:cNvSpPr/>
          <p:nvPr/>
        </p:nvSpPr>
        <p:spPr>
          <a:xfrm>
            <a:off x="6949440" y="39959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4078224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479792" y="3977640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COSA SI POTREBBE FARE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7479792" y="4251960"/>
            <a:ext cx="41330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Completare il dossier di analisi: per ogni caso d'uso una scheda formale (attori, precondizioni, flusso principale e alternativi) affiancata dai wireframe delle schermate.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154990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ANALISI · LEZ. 03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Backlog agile: dall'epic agli scenari BDD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76072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EPIC-001  Piattaforma Car/Bike Sharing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 Feature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82880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FEAT-01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96312" y="2468880"/>
            <a:ext cx="1828800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FEAT-02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43984" y="2468880"/>
            <a:ext cx="182880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FEAT-03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99232"/>
            <a:ext cx="182880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FEAT-04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2999232"/>
            <a:ext cx="182880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FEAT-05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43984" y="2999232"/>
            <a:ext cx="182880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FEAT-06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11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13 User Story — FEAT-02 dettagliata</a:t>
            </a:r>
            <a:endParaRPr lang="en-US" sz="1200" dirty="0"/>
          </a:p>
        </p:txBody>
      </p:sp>
      <p:sp>
        <p:nvSpPr>
          <p:cNvPr id="13" name="US-03"/>
          <p:cNvSpPr/>
          <p:nvPr/>
        </p:nvSpPr>
        <p:spPr>
          <a:xfrm>
            <a:off x="548640" y="393192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8678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US-03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Mappa veicoli</a:t>
            </a:r>
            <a:endParaRPr lang="en-US" sz="1300" dirty="0"/>
          </a:p>
        </p:txBody>
      </p:sp>
      <p:sp>
        <p:nvSpPr>
          <p:cNvPr id="15" name="US-04"/>
          <p:cNvSpPr/>
          <p:nvPr/>
        </p:nvSpPr>
        <p:spPr>
          <a:xfrm>
            <a:off x="2496312" y="393192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33472" y="398678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US-04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Prenota auto</a:t>
            </a:r>
            <a:endParaRPr lang="en-US" sz="1300" dirty="0"/>
          </a:p>
        </p:txBody>
      </p:sp>
      <p:sp>
        <p:nvSpPr>
          <p:cNvPr id="17" name="US-05"/>
          <p:cNvSpPr/>
          <p:nvPr/>
        </p:nvSpPr>
        <p:spPr>
          <a:xfrm>
            <a:off x="4443984" y="393192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81144" y="398678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US-05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Prenota bici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92040"/>
            <a:ext cx="135331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Connextra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4892040"/>
            <a:ext cx="135331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INVEST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4892040"/>
            <a:ext cx="135331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Gherkin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4892040"/>
            <a:ext cx="1353312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DoR / DoD</a:t>
            </a:r>
            <a:endParaRPr lang="en-US" sz="1100" dirty="0"/>
          </a:p>
        </p:txBody>
      </p:sp>
      <p:sp>
        <p:nvSpPr>
          <p:cNvPr id="23" name="gherkin"/>
          <p:cNvSpPr/>
          <p:nvPr/>
        </p:nvSpPr>
        <p:spPr>
          <a:xfrm>
            <a:off x="548640" y="5394960"/>
            <a:ext cx="576072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4681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veicolo prenotato da un altro utente (US-04)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l'utente conferma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rifiuto, nessun addebito</a:t>
            </a:r>
            <a:endParaRPr lang="en-US" sz="1100" dirty="0"/>
          </a:p>
        </p:txBody>
      </p:sp>
      <p:sp>
        <p:nvSpPr>
          <p:cNvPr id="25" name="cerchio cosa"/>
          <p:cNvSpPr/>
          <p:nvPr/>
        </p:nvSpPr>
        <p:spPr>
          <a:xfrm>
            <a:off x="6858000" y="1527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0296" y="1609344"/>
            <a:ext cx="219456" cy="219456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388352" y="150876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COSA ABBIAMO FATTO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388352" y="1783080"/>
            <a:ext cx="42245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Gerarchia EPIC-001 → 6 Feature → 13 User Story. FEAT-02 è completa: storie in formato Connextra, checklist INVEST, scenari Gherkin (happy path ed eccezioni), Definition of Ready e Done.</a:t>
            </a:r>
            <a:endParaRPr lang="en-US" sz="1400" dirty="0"/>
          </a:p>
        </p:txBody>
      </p:sp>
      <p:sp>
        <p:nvSpPr>
          <p:cNvPr id="29" name="cerchio perche"/>
          <p:cNvSpPr/>
          <p:nvPr/>
        </p:nvSpPr>
        <p:spPr>
          <a:xfrm>
            <a:off x="6858000" y="29900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96" y="3072384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388352" y="297180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PERCHÉ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7388352" y="3246120"/>
            <a:ext cx="4224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Storie piccole e verificabili: ogni scenario Given/When/Then è un criterio di accettazione che diventerà un test.</a:t>
            </a:r>
            <a:endParaRPr lang="en-US" sz="1400" dirty="0"/>
          </a:p>
        </p:txBody>
      </p:sp>
      <p:sp>
        <p:nvSpPr>
          <p:cNvPr id="33" name="cerchio next"/>
          <p:cNvSpPr/>
          <p:nvPr/>
        </p:nvSpPr>
        <p:spPr>
          <a:xfrm>
            <a:off x="6858000" y="42245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4306824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388352" y="420624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COSA SI POTREBBE FARE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7388352" y="4480560"/>
            <a:ext cx="4224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Dettagliare le altre 5 feature, stimarle in Planning Poker e gestire il backlog su uno strumento come GitHub Projects o Jira.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154990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ANALISI · LEZ. 04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Prototipo AI-driven di FEAT-02</a:t>
            </a:r>
            <a:endParaRPr lang="en-US" sz="3200" dirty="0"/>
          </a:p>
        </p:txBody>
      </p:sp>
      <p:sp>
        <p:nvSpPr>
          <p:cNvPr id="4" name="cerchio cosa"/>
          <p:cNvSpPr/>
          <p:nvPr/>
        </p:nvSpPr>
        <p:spPr>
          <a:xfrm>
            <a:off x="548640" y="1527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09344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50876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COSA ABBIAMO FATTO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1783080"/>
            <a:ext cx="367588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Prototipo navigabile di mappa e prenotazione, generato con Figma Make da un prompt che riporta le regole di FEAT-02: marker per tipo e proprietà, finestra di 24 ore, controllo di disponibilità.</a:t>
            </a:r>
            <a:endParaRPr lang="en-US" sz="1400" dirty="0"/>
          </a:p>
        </p:txBody>
      </p:sp>
      <p:sp>
        <p:nvSpPr>
          <p:cNvPr id="8" name="cerchio perche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30098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78992" y="320040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PERCHÉ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078992" y="3474720"/>
            <a:ext cx="36758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Far vedere il flusso al Product Owner e validarlo prima di progettare: un malinteso scoperto ora si risolve senza toccare architettura e codice.</a:t>
            </a:r>
            <a:endParaRPr lang="en-US" sz="1400" dirty="0"/>
          </a:p>
        </p:txBody>
      </p:sp>
      <p:sp>
        <p:nvSpPr>
          <p:cNvPr id="12" name="cerchio next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76402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8992" y="466344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COSA SI POTREBBE FARE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078992" y="4937760"/>
            <a:ext cx="36758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Documentare l'esito della validazione del PO ed estendere il prototipo alle altre feature Must Have (FEAT-01, FEAT-05).</a:t>
            </a:r>
            <a:endParaRPr lang="en-US" sz="1400" dirty="0"/>
          </a:p>
        </p:txBody>
      </p:sp>
      <p:sp>
        <p:nvSpPr>
          <p:cNvPr id="16" name="cornice prototipo"/>
          <p:cNvSpPr/>
          <p:nvPr/>
        </p:nvSpPr>
        <p:spPr>
          <a:xfrm>
            <a:off x="5074920" y="1508760"/>
            <a:ext cx="6537960" cy="3986784"/>
          </a:xfrm>
          <a:prstGeom prst="roundRect">
            <a:avLst>
              <a:gd name="adj" fmla="val 137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7" name="Screenshot del prototipo Ecar: mappa con marker e pannello di prenotazione" descr="Screenshot del prototipo Ecar: mappa con marker e pannello di prenotazi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77149"/>
            <a:ext cx="6446520" cy="38500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074920" y="5596128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Prototipo in esecuzione: marker per auto/bici e flotta/privato, pannello con finestra di prenotazione e metodo di pagamento registrato.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1472184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DESIGN · LEZ. 05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Architettura ibrida: perché due stili</a:t>
            </a:r>
            <a:endParaRPr lang="en-US" sz="3200" dirty="0"/>
          </a:p>
        </p:txBody>
      </p:sp>
      <p:sp>
        <p:nvSpPr>
          <p:cNvPr id="4" name="box pipeline"/>
          <p:cNvSpPr/>
          <p:nvPr/>
        </p:nvSpPr>
        <p:spPr>
          <a:xfrm>
            <a:off x="548640" y="1508760"/>
            <a:ext cx="6309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Pipeline GPS — Pipes and Filters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169164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Ricezione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231136"/>
            <a:ext cx="274320" cy="24688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2057400"/>
            <a:ext cx="169164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Validazione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231136"/>
            <a:ext cx="274320" cy="24688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057400"/>
            <a:ext cx="169164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Offuscamento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74920" y="2971800"/>
            <a:ext cx="320040" cy="411480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68112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posizione aggregata</a:t>
            </a:r>
            <a:endParaRPr lang="en-US" sz="1000" dirty="0"/>
          </a:p>
        </p:txBody>
      </p:sp>
      <p:sp>
        <p:nvSpPr>
          <p:cNvPr id="13" name="box core"/>
          <p:cNvSpPr/>
          <p:nvPr/>
        </p:nvSpPr>
        <p:spPr>
          <a:xfrm>
            <a:off x="548640" y="3429000"/>
            <a:ext cx="4434840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— Monolite Modulare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931920"/>
            <a:ext cx="19202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Autenticazione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931920"/>
            <a:ext cx="19202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Veicoli e Posizioni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663440"/>
            <a:ext cx="19202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Prenotazioni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663440"/>
            <a:ext cx="19202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Abbonamenti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394960"/>
            <a:ext cx="192024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Assistenza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4663440"/>
            <a:ext cx="411480" cy="29260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77840" y="4160520"/>
            <a:ext cx="1280160" cy="1325880"/>
          </a:xfrm>
          <a:prstGeom prst="ca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Database 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(InnoDB, ACID)</a:t>
            </a:r>
            <a:endParaRPr lang="en-US" sz="1100" dirty="0"/>
          </a:p>
        </p:txBody>
      </p:sp>
      <p:sp>
        <p:nvSpPr>
          <p:cNvPr id="22" name="cerchio perche"/>
          <p:cNvSpPr/>
          <p:nvPr/>
        </p:nvSpPr>
        <p:spPr>
          <a:xfrm>
            <a:off x="7269480" y="152704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76" y="1609344"/>
            <a:ext cx="219456" cy="21945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799832" y="150876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PERCHÉ (VANTAGGI)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799832" y="1783080"/>
            <a:ext cx="38130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V1 transazioni ACID contro le doppie prenotazioni.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V2 privacy by design: il Filtro 3 offusca i veicoli privati.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V3 il carico GPS non rallenta mappa e prenotazioni.</a:t>
            </a:r>
            <a:endParaRPr lang="en-US" sz="1400" dirty="0"/>
          </a:p>
        </p:txBody>
      </p:sp>
      <p:sp>
        <p:nvSpPr>
          <p:cNvPr id="26" name="cerchio trade"/>
          <p:cNvSpPr/>
          <p:nvPr/>
        </p:nvSpPr>
        <p:spPr>
          <a:xfrm>
            <a:off x="7269480" y="342900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3511296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799832" y="341071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TRADE-OFF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99832" y="3685032"/>
            <a:ext cx="38130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Due unità da rilasciare e monitorare (mitigato da IHealthCheck); la pipeline lineare aggiunge un piccolo ritardo, accettabile per una posizione aggregata.</a:t>
            </a:r>
            <a:endParaRPr lang="en-US" sz="1400" dirty="0"/>
          </a:p>
        </p:txBody>
      </p:sp>
      <p:sp>
        <p:nvSpPr>
          <p:cNvPr id="30" name="cerchio next"/>
          <p:cNvSpPr/>
          <p:nvPr/>
        </p:nvSpPr>
        <p:spPr>
          <a:xfrm>
            <a:off x="7269480" y="48737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4956048"/>
            <a:ext cx="219456" cy="219456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799832" y="485546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COSA SI POTREBBE FARE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7799832" y="5129784"/>
            <a:ext cx="38130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Passare a Event-Driven con un broker se più parti del sistema dovranno reagire allo stesso dato GPS.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1472184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DESIGN · LEZ. 05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Modello C4: tre livelli di zoom</a:t>
            </a:r>
            <a:endParaRPr lang="en-US" sz="3200" dirty="0"/>
          </a:p>
        </p:txBody>
      </p:sp>
      <p:sp>
        <p:nvSpPr>
          <p:cNvPr id="4" name="card L1 · System Context"/>
          <p:cNvSpPr/>
          <p:nvPr/>
        </p:nvSpPr>
        <p:spPr>
          <a:xfrm>
            <a:off x="548640" y="1508760"/>
            <a:ext cx="35204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L1 · System Context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38528"/>
            <a:ext cx="3154680" cy="1874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C4 L1 · System Context" descr="C4 L1 · System Con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161" y="1965960"/>
            <a:ext cx="3033399" cy="1828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9044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Il sistema come scatola nera, con 4 tipi di persona e 4 sistemi esterni</a:t>
            </a:r>
            <a:endParaRPr lang="en-US" sz="1200" dirty="0"/>
          </a:p>
        </p:txBody>
      </p:sp>
      <p:sp>
        <p:nvSpPr>
          <p:cNvPr id="9" name="card L2 · Container"/>
          <p:cNvSpPr/>
          <p:nvPr/>
        </p:nvSpPr>
        <p:spPr>
          <a:xfrm>
            <a:off x="4320540" y="1508760"/>
            <a:ext cx="35204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03420" y="16002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L2 · Container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03420" y="1938528"/>
            <a:ext cx="3154680" cy="1874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C4 L2 · Container" descr="C4 L2 · Contain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516" y="1965960"/>
            <a:ext cx="2620488" cy="1828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03420" y="39044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App, Core API, Worker GPS e database, con i protocolli</a:t>
            </a:r>
            <a:endParaRPr lang="en-US" sz="1200" dirty="0"/>
          </a:p>
        </p:txBody>
      </p:sp>
      <p:sp>
        <p:nvSpPr>
          <p:cNvPr id="14" name="card L3 · Component (UML)"/>
          <p:cNvSpPr/>
          <p:nvPr/>
        </p:nvSpPr>
        <p:spPr>
          <a:xfrm>
            <a:off x="8092440" y="1508760"/>
            <a:ext cx="35204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75320" y="16002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L3 · Component (UML)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75320" y="1938528"/>
            <a:ext cx="3154680" cy="1874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7" name="C4 L3 · Component (UML)" descr="C4 L3 · Component (UML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54661"/>
            <a:ext cx="3063240" cy="125139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39044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Interno del worker: filtri, porte, interfacce fornite e richieste</a:t>
            </a:r>
            <a:endParaRPr lang="en-US" sz="1200" dirty="0"/>
          </a:p>
        </p:txBody>
      </p:sp>
      <p:sp>
        <p:nvSpPr>
          <p:cNvPr id="19" name="cerchio cosa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480974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78992" y="470916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COSA ABBIAMO FATTO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1078992" y="4983480"/>
            <a:ext cx="2990088" cy="92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Context, Container e Component del worker GPS: il component diagram del Lab 05, con le interfacce documentate nella scheda §3.1.</a:t>
            </a:r>
            <a:endParaRPr lang="en-US" sz="1300" dirty="0"/>
          </a:p>
        </p:txBody>
      </p:sp>
      <p:sp>
        <p:nvSpPr>
          <p:cNvPr id="23" name="cerchio perche"/>
          <p:cNvSpPr/>
          <p:nvPr/>
        </p:nvSpPr>
        <p:spPr>
          <a:xfrm>
            <a:off x="4320540" y="472744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836" y="480974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850892" y="470916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PERCHÉ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4850892" y="4983480"/>
            <a:ext cx="2990088" cy="92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Ogni livello parla a un pubblico diverso: business (L1), sviluppatori e DevOps (L2), chi implementa la pipeline (L3).</a:t>
            </a:r>
            <a:endParaRPr lang="en-US" sz="1300" dirty="0"/>
          </a:p>
        </p:txBody>
      </p:sp>
      <p:sp>
        <p:nvSpPr>
          <p:cNvPr id="27" name="cerchio next"/>
          <p:cNvSpPr/>
          <p:nvPr/>
        </p:nvSpPr>
        <p:spPr>
          <a:xfrm>
            <a:off x="8092440" y="4727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36" y="4809744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622792" y="470916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COSA SI POTREBBE FARE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8622792" y="4983480"/>
            <a:ext cx="2990088" cy="70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Deployment Diagram (nodi, container Docker, protocolli) e scelta del protocollo GPS, per esempio MQTT/TLS.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1472184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DESIGN · LEZ. 08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Modellazione comportamentale</a:t>
            </a:r>
            <a:endParaRPr lang="en-US" sz="3200" dirty="0"/>
          </a:p>
        </p:txBody>
      </p:sp>
      <p:sp>
        <p:nvSpPr>
          <p:cNvPr id="4" name="card activity"/>
          <p:cNvSpPr/>
          <p:nvPr/>
        </p:nvSpPr>
        <p:spPr>
          <a:xfrm>
            <a:off x="548640" y="1508760"/>
            <a:ext cx="3108960" cy="47548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Activity diagram FEAT-02" descr="Activity diagram FEAT-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33" y="1600200"/>
            <a:ext cx="2827373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870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Activity — FEAT-02</a:t>
            </a:r>
            <a:endParaRPr lang="en-US" sz="1200" dirty="0"/>
          </a:p>
        </p:txBody>
      </p:sp>
      <p:sp>
        <p:nvSpPr>
          <p:cNvPr id="7" name="card sequence"/>
          <p:cNvSpPr/>
          <p:nvPr/>
        </p:nvSpPr>
        <p:spPr>
          <a:xfrm>
            <a:off x="3840480" y="1508760"/>
            <a:ext cx="4434840" cy="475488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Sequence diagram architettura ibrida" descr="Sequence diagram architettura ibri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039088"/>
            <a:ext cx="4251960" cy="33284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931920" y="58704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Sequence — architettura ibrida</a:t>
            </a:r>
            <a:endParaRPr lang="en-US" sz="1200" dirty="0"/>
          </a:p>
        </p:txBody>
      </p:sp>
      <p:sp>
        <p:nvSpPr>
          <p:cNvPr id="10" name="cerchio cosa"/>
          <p:cNvSpPr/>
          <p:nvPr/>
        </p:nvSpPr>
        <p:spPr>
          <a:xfrm>
            <a:off x="8549640" y="1527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160934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79992" y="15087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COSA ABBIAMO FATTO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9079992" y="1783080"/>
            <a:ext cx="2532888" cy="1134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Activity: un unico flusso per US-03/04/05 con 3 percorsi d'errore. Sequence: pipeline GPS e prenotazione in transazione ACID.</a:t>
            </a:r>
            <a:endParaRPr lang="en-US" sz="1300" dirty="0"/>
          </a:p>
        </p:txBody>
      </p:sp>
      <p:sp>
        <p:nvSpPr>
          <p:cNvPr id="14" name="cerchio perche"/>
          <p:cNvSpPr/>
          <p:nvPr/>
        </p:nvSpPr>
        <p:spPr>
          <a:xfrm>
            <a:off x="8549640" y="3100469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36" y="3182765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79992" y="3082181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PERCHÉ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9079992" y="3356501"/>
            <a:ext cx="2532888" cy="70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Mostrano dove e da chi sono gestiti i casi limite, collegando requisiti, architettura e dati.</a:t>
            </a:r>
            <a:endParaRPr lang="en-US" sz="1300" dirty="0"/>
          </a:p>
        </p:txBody>
      </p:sp>
      <p:sp>
        <p:nvSpPr>
          <p:cNvPr id="18" name="cerchio next"/>
          <p:cNvSpPr/>
          <p:nvPr/>
        </p:nvSpPr>
        <p:spPr>
          <a:xfrm>
            <a:off x="8549640" y="4249347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4331643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79992" y="4231059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COSA SI POTREBBE FARE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9079992" y="4505379"/>
            <a:ext cx="2532888" cy="1134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Estendere la modellazione: State Machine del veicolo (disponibile, prenotato, in uso) e sequence per modifica e cancellazione (US06, US07).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1472184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DESIGN · LEZ. 06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Modello dei dati: schema ER</a:t>
            </a:r>
            <a:endParaRPr lang="en-US" sz="3200" dirty="0"/>
          </a:p>
        </p:txBody>
      </p:sp>
      <p:sp>
        <p:nvSpPr>
          <p:cNvPr id="4" name="tabella TipoVeicolo"/>
          <p:cNvSpPr txBox="1"/>
          <p:nvPr/>
        </p:nvSpPr>
        <p:spPr>
          <a:xfrm>
            <a:off x="548640" y="1508760"/>
            <a:ext cx="1965960" cy="3291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TipoVeicolo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37944"/>
            <a:ext cx="1965960" cy="512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836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 ID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Nome: auto | bicicletta</a:t>
            </a:r>
            <a:endParaRPr lang="en-US" sz="1100" dirty="0"/>
          </a:p>
        </p:txBody>
      </p:sp>
      <p:sp>
        <p:nvSpPr>
          <p:cNvPr id="7" name="tabella TipoProprieta"/>
          <p:cNvSpPr txBox="1"/>
          <p:nvPr/>
        </p:nvSpPr>
        <p:spPr>
          <a:xfrm>
            <a:off x="548640" y="2743200"/>
            <a:ext cx="1965960" cy="32918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TipoProprieta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72384"/>
            <a:ext cx="1965960" cy="51206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181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 ID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Nome: flotta | privato</a:t>
            </a:r>
            <a:endParaRPr lang="en-US" sz="1100" dirty="0"/>
          </a:p>
        </p:txBody>
      </p:sp>
      <p:sp>
        <p:nvSpPr>
          <p:cNvPr id="10" name="tabella Veicolo"/>
          <p:cNvSpPr txBox="1"/>
          <p:nvPr/>
        </p:nvSpPr>
        <p:spPr>
          <a:xfrm>
            <a:off x="3017520" y="1508760"/>
            <a:ext cx="2514600" cy="3291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Veicolo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837944"/>
            <a:ext cx="2514600" cy="21214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1883664"/>
            <a:ext cx="23774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 ID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FK  ID_TipoVeicolo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FK  ID_TipoProprieta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FK  ID_Proprietario (solo privati)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Marca, Modello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TariffaOraria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Stato: disponibile | prenotato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DisponibileDal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PosizioneAggregata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UltimoAggiornamentoGPS</a:t>
            </a:r>
            <a:endParaRPr lang="en-US" sz="1100" dirty="0"/>
          </a:p>
        </p:txBody>
      </p:sp>
      <p:sp>
        <p:nvSpPr>
          <p:cNvPr id="13" name="tabella Prenotazione"/>
          <p:cNvSpPr txBox="1"/>
          <p:nvPr/>
        </p:nvSpPr>
        <p:spPr>
          <a:xfrm>
            <a:off x="3017520" y="4325112"/>
            <a:ext cx="2514600" cy="3291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Prenotazione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4654296"/>
            <a:ext cx="2514600" cy="13167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4700016"/>
            <a:ext cx="23774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 ID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FK  ID_Veicolo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FK  ID_Utente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DataInizio, DataFine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Importo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Stato: confermata | annullata</a:t>
            </a:r>
            <a:endParaRPr lang="en-US" sz="1100" dirty="0"/>
          </a:p>
        </p:txBody>
      </p:sp>
      <p:sp>
        <p:nvSpPr>
          <p:cNvPr id="16" name="tabella MetodoPagamento"/>
          <p:cNvSpPr txBox="1"/>
          <p:nvPr/>
        </p:nvSpPr>
        <p:spPr>
          <a:xfrm>
            <a:off x="6035040" y="1508760"/>
            <a:ext cx="2103120" cy="3291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MetodoPagamento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837944"/>
            <a:ext cx="210312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1883664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 ID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FK  ID_Utente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Circuito, UltimeCifre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TokenGateway</a:t>
            </a:r>
            <a:endParaRPr lang="en-US" sz="1100" dirty="0"/>
          </a:p>
        </p:txBody>
      </p:sp>
      <p:sp>
        <p:nvSpPr>
          <p:cNvPr id="19" name="tabella Utente"/>
          <p:cNvSpPr txBox="1"/>
          <p:nvPr/>
        </p:nvSpPr>
        <p:spPr>
          <a:xfrm>
            <a:off x="6035040" y="3246120"/>
            <a:ext cx="2103120" cy="3291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Utente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3575304"/>
            <a:ext cx="2103120" cy="11155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3621024"/>
            <a:ext cx="1965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accent1"/>
                </a:solidFill>
              </a:rPr>
              <a:t>PK  ID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Nome, Cognome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Email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DataNascita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VerificaPatente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1920240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51176" y="17007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17007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3154680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51176" y="2935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2935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74820" y="3959352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38828" y="39776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338828" y="41239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32120" y="3474720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68696" y="32552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705856" y="32552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0..1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32120" y="4572000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68696" y="43525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888736" y="43525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86600" y="2752344"/>
            <a:ext cx="0" cy="49377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50608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150608" y="3044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40" name="cerchio cosa"/>
          <p:cNvSpPr/>
          <p:nvPr/>
        </p:nvSpPr>
        <p:spPr>
          <a:xfrm>
            <a:off x="8549640" y="1527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36" y="1609344"/>
            <a:ext cx="219456" cy="219456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9079992" y="150876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COSA ABBIAMO FATTO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9079992" y="1783080"/>
            <a:ext cx="2532888" cy="134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Schema ER con tipo di veicolo (auto o bici) e tipo di proprietà (flotta o privato), il proprietario dei veicoli privati, periodo e stato della prenotazione.</a:t>
            </a:r>
            <a:endParaRPr lang="en-US" sz="1300" dirty="0"/>
          </a:p>
        </p:txBody>
      </p:sp>
      <p:sp>
        <p:nvSpPr>
          <p:cNvPr id="44" name="cerchio perche"/>
          <p:cNvSpPr/>
          <p:nvPr/>
        </p:nvSpPr>
        <p:spPr>
          <a:xfrm>
            <a:off x="8549640" y="3312741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3395037"/>
            <a:ext cx="219456" cy="219456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9079992" y="3294453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PERCHÉ</a:t>
            </a:r>
            <a:endParaRPr lang="en-US" sz="1100" dirty="0"/>
          </a:p>
        </p:txBody>
      </p:sp>
      <p:sp>
        <p:nvSpPr>
          <p:cNvPr id="47" name="Text 43"/>
          <p:cNvSpPr txBox="1"/>
          <p:nvPr/>
        </p:nvSpPr>
        <p:spPr>
          <a:xfrm>
            <a:off x="9079992" y="3568773"/>
            <a:ext cx="2532888" cy="134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Traduce le regole di FEAT-02: la mappa distingue flotta e privati, il Filtro 3 offusca solo i privati, la prenotazione controlla disponibilità e finestra di 24 ore.</a:t>
            </a:r>
            <a:endParaRPr lang="en-US" sz="1300" dirty="0"/>
          </a:p>
        </p:txBody>
      </p:sp>
      <p:sp>
        <p:nvSpPr>
          <p:cNvPr id="48" name="cerchio next"/>
          <p:cNvSpPr/>
          <p:nvPr/>
        </p:nvSpPr>
        <p:spPr>
          <a:xfrm>
            <a:off x="8549640" y="5098433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80729"/>
            <a:ext cx="219456" cy="219456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9079992" y="5080145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COSA SI POTREBBE FARE</a:t>
            </a:r>
            <a:endParaRPr lang="en-US" sz="1100" dirty="0"/>
          </a:p>
        </p:txBody>
      </p:sp>
      <p:sp>
        <p:nvSpPr>
          <p:cNvPr id="51" name="Text 46"/>
          <p:cNvSpPr txBox="1"/>
          <p:nvPr/>
        </p:nvSpPr>
        <p:spPr>
          <a:xfrm>
            <a:off x="9079992" y="5354465"/>
            <a:ext cx="2532888" cy="92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Script SQL per MySQL con vincoli e indici (Lez. 06) e tabelle per abbonamenti e ticket quando si dettagliano FEAT-04 e FEAT-06.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fase"/>
          <p:cNvSpPr txBox="1"/>
          <p:nvPr/>
        </p:nvSpPr>
        <p:spPr>
          <a:xfrm>
            <a:off x="548640" y="237744"/>
            <a:ext cx="850392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COERENZA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requisito attraverso tutti i deliverable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Requisito: nessuna doppia prenotazione concorrente sullo stesso veicolo</a:t>
            </a:r>
            <a:endParaRPr lang="en-US" sz="1800" dirty="0"/>
          </a:p>
        </p:txBody>
      </p:sp>
      <p:sp>
        <p:nvSpPr>
          <p:cNvPr id="5" name="nodo EPIC-001"/>
          <p:cNvSpPr/>
          <p:nvPr/>
        </p:nvSpPr>
        <p:spPr>
          <a:xfrm>
            <a:off x="1060704" y="214884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359152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75104" y="2560320"/>
            <a:ext cx="8412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94360" y="31089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EPIC-001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56432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Rischio tecnico: doppie prenotazioni concorrenti</a:t>
            </a:r>
            <a:endParaRPr lang="en-US" sz="1200" dirty="0"/>
          </a:p>
        </p:txBody>
      </p:sp>
      <p:sp>
        <p:nvSpPr>
          <p:cNvPr id="10" name="nodo US-04"/>
          <p:cNvSpPr/>
          <p:nvPr/>
        </p:nvSpPr>
        <p:spPr>
          <a:xfrm>
            <a:off x="2907792" y="2148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2359152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822192" y="2560320"/>
            <a:ext cx="8412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2441448" y="31089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US-04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487168" y="3456432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Scenario 2 BDD: veicolo prenotato da un altro utente</a:t>
            </a:r>
            <a:endParaRPr lang="en-US" sz="1200" dirty="0"/>
          </a:p>
        </p:txBody>
      </p:sp>
      <p:sp>
        <p:nvSpPr>
          <p:cNvPr id="15" name="nodo Prototipo"/>
          <p:cNvSpPr/>
          <p:nvPr/>
        </p:nvSpPr>
        <p:spPr>
          <a:xfrm>
            <a:off x="4754880" y="2148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359152"/>
            <a:ext cx="402336" cy="40233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669280" y="2560320"/>
            <a:ext cx="8412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4288536" y="31089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Prototipo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334256" y="3456432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createBooking ricontrolla lo stato del veicolo</a:t>
            </a:r>
            <a:endParaRPr lang="en-US" sz="1200" dirty="0"/>
          </a:p>
        </p:txBody>
      </p:sp>
      <p:sp>
        <p:nvSpPr>
          <p:cNvPr id="20" name="nodo Activity"/>
          <p:cNvSpPr/>
          <p:nvPr/>
        </p:nvSpPr>
        <p:spPr>
          <a:xfrm>
            <a:off x="6601968" y="21488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359152"/>
            <a:ext cx="402336" cy="40233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516368" y="2560320"/>
            <a:ext cx="8412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Text 17"/>
          <p:cNvSpPr txBox="1"/>
          <p:nvPr/>
        </p:nvSpPr>
        <p:spPr>
          <a:xfrm>
            <a:off x="6135624" y="31089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Activity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181344" y="3456432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Decisione «Veicolo ancora disponibile?»</a:t>
            </a:r>
            <a:endParaRPr lang="en-US" sz="1200" dirty="0"/>
          </a:p>
        </p:txBody>
      </p:sp>
      <p:sp>
        <p:nvSpPr>
          <p:cNvPr id="25" name="nodo Scheda architettura"/>
          <p:cNvSpPr/>
          <p:nvPr/>
        </p:nvSpPr>
        <p:spPr>
          <a:xfrm>
            <a:off x="8449056" y="21488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368" y="2359152"/>
            <a:ext cx="402336" cy="40233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363456" y="2560320"/>
            <a:ext cx="8412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Text 21"/>
          <p:cNvSpPr txBox="1"/>
          <p:nvPr/>
        </p:nvSpPr>
        <p:spPr>
          <a:xfrm>
            <a:off x="7982712" y="31089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Scheda architettura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028432" y="3456432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V1: un'unica transazione ACID su MySQL</a:t>
            </a:r>
            <a:endParaRPr lang="en-US" sz="1200" dirty="0"/>
          </a:p>
        </p:txBody>
      </p:sp>
      <p:sp>
        <p:nvSpPr>
          <p:cNvPr id="30" name="nodo Sequence"/>
          <p:cNvSpPr/>
          <p:nvPr/>
        </p:nvSpPr>
        <p:spPr>
          <a:xfrm>
            <a:off x="10296144" y="21488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6456" y="2359152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829800" y="31089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Sequence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9875520" y="3456432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SELECT … FOR UPDATE, poi COMMIT o ROLLBACK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4434840"/>
            <a:ext cx="5358384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Analisi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6181344" y="4434840"/>
            <a:ext cx="5358384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Design</a:t>
            </a:r>
            <a:endParaRPr lang="en-US" sz="1100" dirty="0"/>
          </a:p>
        </p:txBody>
      </p:sp>
      <p:sp>
        <p:nvSpPr>
          <p:cNvPr id="36" name="perche conta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777240" y="50749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Perché conta: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ogni scelta di design risponde a un requisito scritto in analisi. Quando qualcosa cambia sappiamo quali documenti aggiornare, come abbiamo fatto aggiungendo l'interfaccia IProprietaVeicolo a scheda, C4 e sequence diagram.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Grazie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Domande e osservazioni sono benvenute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Repository: github.com/Riccardo2104/ProjectWork_App_Carsharing</a:t>
            </a:r>
            <a:endParaRPr lang="en-US" sz="1400" dirty="0"/>
          </a:p>
        </p:txBody>
      </p:sp>
      <p:sp>
        <p:nvSpPr>
          <p:cNvPr id="5" name="logo"/>
          <p:cNvSpPr/>
          <p:nvPr/>
        </p:nvSpPr>
        <p:spPr>
          <a:xfrm>
            <a:off x="9281160" y="214884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6974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car Mobility">
  <a:themeElements>
    <a:clrScheme name="Ecar Mobility">
      <a:dk1>
        <a:srgbClr val="0F1B2D"/>
      </a:dk1>
      <a:lt1>
        <a:srgbClr val="FFFFFF"/>
      </a:lt1>
      <a:dk2>
        <a:srgbClr val="334155"/>
      </a:dk2>
      <a:lt2>
        <a:srgbClr val="F1F5F9"/>
      </a:lt2>
      <a:accent1>
        <a:srgbClr val="0D9488"/>
      </a:accent1>
      <a:accent2>
        <a:srgbClr val="D97706"/>
      </a:accent2>
      <a:accent3>
        <a:srgbClr val="2563EB"/>
      </a:accent3>
      <a:accent4>
        <a:srgbClr val="7C3AED"/>
      </a:accent4>
      <a:accent5>
        <a:srgbClr val="64748B"/>
      </a:accent5>
      <a:accent6>
        <a:srgbClr val="DC2626"/>
      </a:accent6>
      <a:hlink>
        <a:srgbClr val="0D9488"/>
      </a:hlink>
      <a:folHlink>
        <a:srgbClr val="7C3AED"/>
      </a:folHlink>
    </a:clrScheme>
    <a:fontScheme name="Ecar Mobilit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Ecar — SAL deliverable SDLC</dc:title>
  <dc:subject>Project Work UFS11</dc:subject>
  <dc:creator>PptxGenJS</dc:creator>
  <cp:lastModifiedBy>PptxGenJS</cp:lastModifiedBy>
  <cp:revision>1</cp:revision>
  <dcterms:created xsi:type="dcterms:W3CDTF">2026-10-13T11:21:13Z</dcterms:created>
  <dcterms:modified xsi:type="dcterms:W3CDTF">2026-10-13T11:21:13Z</dcterms:modified>
</cp:coreProperties>
</file>